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79" d="100"/>
          <a:sy n="79" d="100"/>
        </p:scale>
        <p:origin x="108" y="10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rgbClr val="14253D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 </a:t>
            </a:r>
            <a:r>
              <a:rPr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实习总结</a:t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US" altLang="zh-CN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优化和 </a:t>
            </a:r>
            <a:r>
              <a:rPr lang="en-US" altLang="zh-C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eBPF</a:t>
            </a:r>
            <a:r>
              <a:rPr lang="en-US" altLang="zh-CN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网络栈可观测能力</a:t>
            </a:r>
            <a:endParaRPr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71750"/>
            <a:ext cx="6400800" cy="131445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br>
              <a:rPr sz="2000" dirty="0">
                <a:latin typeface="+mj-ea"/>
                <a:ea typeface="+mj-ea"/>
              </a:rPr>
            </a:br>
            <a:r>
              <a:rPr sz="2000" dirty="0" err="1">
                <a:latin typeface="+mj-ea"/>
                <a:ea typeface="+mj-ea"/>
              </a:rPr>
              <a:t>刘柯</a:t>
            </a:r>
            <a:r>
              <a:rPr lang="en-US" sz="2000" dirty="0">
                <a:latin typeface="+mj-ea"/>
                <a:ea typeface="+mj-ea"/>
              </a:rPr>
              <a:t> </a:t>
            </a:r>
            <a:r>
              <a:rPr lang="en-US" altLang="zh-CN" sz="2000" dirty="0">
                <a:latin typeface="+mj-ea"/>
                <a:ea typeface="+mj-ea"/>
              </a:rPr>
              <a:t>- </a:t>
            </a:r>
            <a:r>
              <a:rPr lang="en-US" altLang="zh-CN" sz="2000" dirty="0" err="1">
                <a:latin typeface="+mj-ea"/>
                <a:ea typeface="+mj-ea"/>
              </a:rPr>
              <a:t>Antareske</a:t>
            </a:r>
            <a:endParaRPr sz="20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工作主线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方向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要解决的问题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形成的能力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SG2002 WiFi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上行停顿、D80 适配、每包 SDIO 固定开销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稳定收发与多帧聚合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ax-net / eBPF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吞吐数字无法定位阻塞层次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接口计数、队列快照、静态事件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WiFi：问题从哪里来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6CFCEA-FEDD-1768-D821-57434238C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60" y="1099151"/>
            <a:ext cx="5726736" cy="38383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WiFi：修复完成等待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关键边界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处理方式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完成通知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使能 </a:t>
                      </a:r>
                      <a:r>
                        <a:rPr>
                          <a:latin typeface="Courier"/>
                        </a:rPr>
                        <a:t>XFER_COMPLETE</a:t>
                      </a:r>
                      <a:r>
                        <a:t>（</a:t>
                      </a:r>
                      <a:r>
                        <a:rPr>
                          <a:latin typeface="Courier"/>
                        </a:rPr>
                        <a:t>INT_STATUS_NORM</a:t>
                      </a:r>
                      <a:r>
                        <a:t> 0x30 bit1）；中断只屏蔽信号并唤醒，粘滞状态位由任务侧消费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丢唤醒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条件复检与入队收进同一关中断临界区，关闭「中断先到、任务后入队」的窗口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状态清理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选择性 W1C，与 </a:t>
                      </a:r>
                      <a:r>
                        <a:rPr>
                          <a:latin typeface="Courier"/>
                        </a:rPr>
                        <a:t>!(NORM_INT_XFER_COMPLETE)</a:t>
                      </a:r>
                      <a:r>
                        <a:t> 相与，只清其余位，不抹掉并发传输的完成位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MMIO 顺序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自旋入口加一次 </a:t>
                      </a:r>
                      <a:r>
                        <a:rPr>
                          <a:latin typeface="Courier"/>
                        </a:rPr>
                        <a:t>fence(SeqCst)</a:t>
                      </a:r>
                      <a:r>
                        <a:t>，避免写缓冲与完成状态读取争用总线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WiFi：重构后的驱动结构</a:t>
            </a:r>
          </a:p>
        </p:txBody>
      </p:sp>
      <p:pic>
        <p:nvPicPr>
          <p:cNvPr id="3" name="Picture 1" descr="figures/f2_layer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97100"/>
            <a:ext cx="82296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D80 适配：三类故障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217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根因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修复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启动卡在固件回复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浅睡时寄存器即时回读是旧值；设备中断使能太晚，ROM 邮箱阶段无卡中断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写后改为形状校验；V3 序列新增 index 3，把中断使能提前到 ROM 邮箱阶段之前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AP 命令成功却搜不到热点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AP 接口编号硬编码为 0，固件分配的编号是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回填固件分配的 vif 编号，并校验确认长度、状态码与编号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负载数秒后收发停摆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D80 额度 128（0x80）被七位掩码读成 0；重试路径不置 </a:t>
                      </a:r>
                      <a:r>
                        <a:rPr>
                          <a:latin typeface="Courier"/>
                        </a:rPr>
                        <a:t>Armed</a:t>
                      </a:r>
                      <a:r>
                        <a:t>，中断永不重挂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按 V3 读完整 8 位；重试路径返回 </a:t>
                      </a:r>
                      <a:r>
                        <a:rPr>
                          <a:latin typeface="Courier"/>
                        </a:rPr>
                        <a:t>WaitForInterruptUntil</a:t>
                      </a:r>
                      <a:r>
                        <a:t> 并置 </a:t>
                      </a:r>
                      <a:r>
                        <a:rPr>
                          <a:latin typeface="Courier"/>
                        </a:rPr>
                        <a:t>Armed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WiFi：发送瓶颈在「每包固定成本」</a:t>
            </a:r>
          </a:p>
        </p:txBody>
      </p:sp>
      <p:pic>
        <p:nvPicPr>
          <p:cNvPr id="3" name="Picture 1" descr="figures/f3_txpath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06500"/>
            <a:ext cx="8229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WiFi：聚合、额度缓存与有界续接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sz="1800" b="1" dirty="0" err="1"/>
              <a:t>多帧一笔写</a:t>
            </a:r>
            <a:r>
              <a:rPr sz="1800" b="1" dirty="0"/>
              <a:t>：</a:t>
            </a:r>
            <a:r>
              <a:rPr sz="1800" dirty="0"/>
              <a:t> </a:t>
            </a:r>
            <a:r>
              <a:rPr sz="1800" dirty="0" err="1"/>
              <a:t>帧内按</a:t>
            </a:r>
            <a:r>
              <a:rPr sz="1800" dirty="0"/>
              <a:t> 4 </a:t>
            </a:r>
            <a:r>
              <a:rPr sz="1800" dirty="0" err="1"/>
              <a:t>字节对齐，整笔末尾补到</a:t>
            </a:r>
            <a:r>
              <a:rPr sz="1800" dirty="0"/>
              <a:t> 512 </a:t>
            </a:r>
            <a:r>
              <a:rPr sz="1800" dirty="0" err="1"/>
              <a:t>字节块边界；板级上限</a:t>
            </a:r>
            <a:r>
              <a:rPr sz="1800" dirty="0"/>
              <a:t> 32 帧、49152 </a:t>
            </a:r>
            <a:r>
              <a:rPr sz="1800" dirty="0" err="1"/>
              <a:t>字节，核心默认</a:t>
            </a:r>
            <a:r>
              <a:rPr sz="1800" dirty="0"/>
              <a:t> 4 帧、6144 </a:t>
            </a:r>
            <a:r>
              <a:rPr sz="1800" dirty="0" err="1"/>
              <a:t>字节</a:t>
            </a:r>
            <a:r>
              <a:rPr sz="1800" dirty="0"/>
              <a:t>。</a:t>
            </a:r>
          </a:p>
          <a:p>
            <a:pPr lvl="0"/>
            <a:r>
              <a:rPr sz="1800" b="1" dirty="0" err="1"/>
              <a:t>额度缓存</a:t>
            </a:r>
            <a:r>
              <a:rPr sz="1800" b="1" dirty="0"/>
              <a:t>：</a:t>
            </a:r>
            <a:r>
              <a:rPr sz="1800" dirty="0"/>
              <a:t> D80 </a:t>
            </a:r>
            <a:r>
              <a:rPr sz="1800" dirty="0" err="1"/>
              <a:t>读完整</a:t>
            </a:r>
            <a:r>
              <a:rPr sz="1800" dirty="0"/>
              <a:t> 8 </a:t>
            </a:r>
            <a:r>
              <a:rPr sz="1800" dirty="0" err="1"/>
              <a:t>位，每发一包扣一个额度，保留</a:t>
            </a:r>
            <a:r>
              <a:rPr sz="1800" dirty="0"/>
              <a:t> 2 </a:t>
            </a:r>
            <a:r>
              <a:rPr sz="1800" dirty="0" err="1"/>
              <a:t>个给命令；命令流量与取消使缓存失效，读数不高于保留量时不缓存而是退避重读</a:t>
            </a:r>
            <a:r>
              <a:rPr sz="1800" dirty="0"/>
              <a:t>。</a:t>
            </a:r>
          </a:p>
          <a:p>
            <a:pPr lvl="0"/>
            <a:r>
              <a:rPr sz="1800" b="1" dirty="0" err="1"/>
              <a:t>薄池有界等待</a:t>
            </a:r>
            <a:r>
              <a:rPr sz="1800" b="1" dirty="0"/>
              <a:t>：</a:t>
            </a:r>
            <a:r>
              <a:rPr sz="1800" dirty="0"/>
              <a:t> </a:t>
            </a:r>
            <a:r>
              <a:rPr sz="1800" dirty="0" err="1"/>
              <a:t>每次</a:t>
            </a:r>
            <a:r>
              <a:rPr sz="1800" dirty="0"/>
              <a:t> 300 µ</a:t>
            </a:r>
            <a:r>
              <a:rPr sz="1800" dirty="0" err="1"/>
              <a:t>s、最多</a:t>
            </a:r>
            <a:r>
              <a:rPr sz="1800" dirty="0"/>
              <a:t> 8 </a:t>
            </a:r>
            <a:r>
              <a:rPr sz="1800" dirty="0" err="1"/>
              <a:t>次；超过预算即按现有额度发出，不为凑大批次无限等待</a:t>
            </a:r>
            <a:r>
              <a:rPr sz="1800" dirty="0"/>
              <a:t>。</a:t>
            </a:r>
          </a:p>
          <a:p>
            <a:pPr lvl="0"/>
            <a:r>
              <a:rPr sz="1800" b="1" dirty="0" err="1"/>
              <a:t>完成后续接</a:t>
            </a:r>
            <a:r>
              <a:rPr sz="1800" b="1" dirty="0"/>
              <a:t>：</a:t>
            </a:r>
            <a:r>
              <a:rPr sz="1800" dirty="0"/>
              <a:t> </a:t>
            </a:r>
            <a:r>
              <a:rPr sz="1800" dirty="0" err="1"/>
              <a:t>队列有帧且额度允许就准备下一笔，但每轮最多续接一次，把执行机会让给接收扫描</a:t>
            </a:r>
            <a:r>
              <a:rPr sz="1800" dirty="0"/>
              <a:t>。</a:t>
            </a:r>
          </a:p>
          <a:p>
            <a:pPr marL="0" lvl="0" indent="0">
              <a:buNone/>
            </a:pPr>
            <a:r>
              <a:rPr sz="1800" dirty="0" err="1"/>
              <a:t>边界处理保证取消、停机、事件队列满时，发送缓冲只归还一次</a:t>
            </a:r>
            <a:r>
              <a:rPr sz="1800" dirty="0"/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WiFi：吞吐结果</a:t>
            </a:r>
          </a:p>
        </p:txBody>
      </p:sp>
      <p:pic>
        <p:nvPicPr>
          <p:cNvPr id="3" name="Picture 1" descr="figures/f4_throughpu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82296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WiFi：如何确认收益来自驱动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sz="1800" dirty="0" err="1"/>
              <a:t>相邻</a:t>
            </a:r>
            <a:r>
              <a:rPr sz="1800" dirty="0"/>
              <a:t> </a:t>
            </a:r>
            <a:r>
              <a:rPr sz="1800" dirty="0" err="1"/>
              <a:t>WiFi</a:t>
            </a:r>
            <a:r>
              <a:rPr sz="1800" dirty="0"/>
              <a:t> </a:t>
            </a:r>
            <a:r>
              <a:rPr sz="1800" dirty="0" err="1"/>
              <a:t>会话的板卡接收</a:t>
            </a:r>
            <a:r>
              <a:rPr sz="1800" dirty="0"/>
              <a:t>/</a:t>
            </a:r>
            <a:r>
              <a:rPr sz="1800" dirty="0" err="1"/>
              <a:t>发送曾从</a:t>
            </a:r>
            <a:r>
              <a:rPr sz="1800" dirty="0"/>
              <a:t> 15.7 / 2.50 </a:t>
            </a:r>
            <a:r>
              <a:rPr sz="1800" dirty="0" err="1"/>
              <a:t>变为</a:t>
            </a:r>
            <a:r>
              <a:rPr sz="1800" dirty="0"/>
              <a:t> 30.6 / 26.9 </a:t>
            </a:r>
            <a:r>
              <a:rPr sz="1800" dirty="0" err="1"/>
              <a:t>Mbps，同一次启动内连续两轮上行也曾相差约</a:t>
            </a:r>
            <a:r>
              <a:rPr sz="1800" dirty="0"/>
              <a:t> 2.1 </a:t>
            </a:r>
            <a:r>
              <a:rPr sz="1800" dirty="0" err="1"/>
              <a:t>倍，而每笔写入字节数只差</a:t>
            </a:r>
            <a:r>
              <a:rPr sz="1800" dirty="0"/>
              <a:t> 0.5%。</a:t>
            </a:r>
          </a:p>
          <a:p>
            <a:pPr lvl="0"/>
            <a:r>
              <a:rPr sz="1800" dirty="0" err="1"/>
              <a:t>因此跨会话吞吐不能单独用作归因，改用同会话</a:t>
            </a:r>
            <a:r>
              <a:rPr sz="1800" dirty="0"/>
              <a:t> A/B/A </a:t>
            </a:r>
            <a:r>
              <a:rPr sz="1800" dirty="0" err="1"/>
              <a:t>交替对照，并记录链路速率、信号强度与驱动机制计数</a:t>
            </a:r>
            <a:r>
              <a:rPr sz="1800" dirty="0"/>
              <a:t>。</a:t>
            </a:r>
          </a:p>
          <a:p>
            <a:pPr lvl="0"/>
            <a:r>
              <a:rPr sz="1800" dirty="0" err="1"/>
              <a:t>放宽聚合上限后，同会话每笔写入</a:t>
            </a:r>
            <a:r>
              <a:rPr sz="1800" dirty="0"/>
              <a:t> 5638 → 18730 </a:t>
            </a:r>
            <a:r>
              <a:rPr sz="1800" dirty="0" err="1"/>
              <a:t>字节，单位字节成本</a:t>
            </a:r>
            <a:r>
              <a:rPr sz="1800" dirty="0"/>
              <a:t> 189 → 144 ns/B。</a:t>
            </a:r>
          </a:p>
          <a:p>
            <a:pPr marL="0" lvl="0" indent="0">
              <a:buNone/>
            </a:pPr>
            <a:r>
              <a:rPr sz="1800" dirty="0" err="1"/>
              <a:t>结论：机制计数直接支持「摊薄每笔</a:t>
            </a:r>
            <a:r>
              <a:rPr sz="1800" dirty="0"/>
              <a:t> SDIO </a:t>
            </a:r>
            <a:r>
              <a:rPr sz="1800" dirty="0" err="1"/>
              <a:t>固定开销</a:t>
            </a:r>
            <a:r>
              <a:rPr sz="1800" dirty="0"/>
              <a:t>」；</a:t>
            </a:r>
            <a:r>
              <a:rPr sz="1800" dirty="0" err="1"/>
              <a:t>端到端速率仍受空口状态影响</a:t>
            </a:r>
            <a:r>
              <a:rPr sz="1800" dirty="0"/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ax-net：从总量到具体状态转移</a:t>
            </a:r>
          </a:p>
        </p:txBody>
      </p:sp>
      <p:pic>
        <p:nvPicPr>
          <p:cNvPr id="3" name="Picture 1" descr="figures/f5_observ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ax-net：六个可复用的静态事件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903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事件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边界含义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queue_poll_round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一次轮询调用返回时报告队列身份、预算、工作单位与结果；工作单位不是包数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queue_rearm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重新使能未以正常空闲结束时报告竞态、仍有工作、延迟重试或失败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queue_backpressure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设备明确拒绝可重试的 TX 提交或 RX 补投时报告位置与原因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tx_submit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驱动接纳一帧；接纳不等于硬件已发出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rx_publish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帧进入协议侧队列；发布不等于协议栈已处理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proto_yield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协议执行器因轮询次数或时间预算耗尽而让出，并记录是否仍有待办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eBPF：消费事件与失败隔离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sz="1800" dirty="0" err="1">
                <a:latin typeface="Courier"/>
              </a:rPr>
              <a:t>net_queue_poll</a:t>
            </a:r>
            <a:r>
              <a:rPr sz="1800" dirty="0"/>
              <a:t> </a:t>
            </a:r>
            <a:r>
              <a:rPr sz="1800" dirty="0" err="1"/>
              <a:t>示例附着</a:t>
            </a:r>
            <a:r>
              <a:rPr sz="1800" dirty="0"/>
              <a:t> </a:t>
            </a:r>
            <a:r>
              <a:rPr sz="1800" dirty="0" err="1">
                <a:latin typeface="Courier"/>
              </a:rPr>
              <a:t>net:queue_poll_round</a:t>
            </a:r>
            <a:r>
              <a:rPr sz="1800" dirty="0" err="1"/>
              <a:t>，演示</a:t>
            </a:r>
            <a:r>
              <a:rPr sz="1800" dirty="0"/>
              <a:t> </a:t>
            </a:r>
            <a:r>
              <a:rPr sz="1800" b="1" dirty="0"/>
              <a:t>load → attach → enable → </a:t>
            </a:r>
            <a:r>
              <a:rPr sz="1800" b="1" dirty="0" err="1"/>
              <a:t>read</a:t>
            </a:r>
            <a:r>
              <a:rPr sz="1800" dirty="0" err="1"/>
              <a:t>；它只证明消费链路连通，不定义事件语义</a:t>
            </a:r>
            <a:r>
              <a:rPr sz="1800" dirty="0"/>
              <a:t>。</a:t>
            </a:r>
          </a:p>
          <a:p>
            <a:pPr lvl="0"/>
            <a:r>
              <a:rPr sz="1800" dirty="0" err="1"/>
              <a:t>选择静态</a:t>
            </a:r>
            <a:r>
              <a:rPr sz="1800" dirty="0"/>
              <a:t> </a:t>
            </a:r>
            <a:r>
              <a:rPr sz="1800" dirty="0" err="1"/>
              <a:t>tracepoint</a:t>
            </a:r>
            <a:r>
              <a:rPr sz="1800" dirty="0"/>
              <a:t> </a:t>
            </a:r>
            <a:r>
              <a:rPr sz="1800" dirty="0" err="1"/>
              <a:t>而非动态函数探针：Rust</a:t>
            </a:r>
            <a:r>
              <a:rPr sz="1800" dirty="0"/>
              <a:t> </a:t>
            </a:r>
            <a:r>
              <a:rPr sz="1800" dirty="0" err="1"/>
              <a:t>内联会让符号消去或变私有，为保住探针符号给热路径加</a:t>
            </a:r>
            <a:r>
              <a:rPr sz="1800" dirty="0"/>
              <a:t> </a:t>
            </a:r>
            <a:r>
              <a:rPr sz="1800" dirty="0">
                <a:latin typeface="Courier"/>
              </a:rPr>
              <a:t>#[inline(never)]</a:t>
            </a:r>
            <a:r>
              <a:rPr sz="1800" dirty="0"/>
              <a:t> </a:t>
            </a:r>
            <a:r>
              <a:rPr sz="1800" dirty="0" err="1"/>
              <a:t>会永久改变热路径。事件按数值</a:t>
            </a:r>
            <a:r>
              <a:rPr sz="1800" dirty="0"/>
              <a:t> id </a:t>
            </a:r>
            <a:r>
              <a:rPr sz="1800" dirty="0" err="1"/>
              <a:t>附着，事件名与字段构成面向用户的维护契约</a:t>
            </a:r>
            <a:r>
              <a:rPr sz="1800" dirty="0"/>
              <a:t>。</a:t>
            </a:r>
          </a:p>
          <a:p>
            <a:pPr lvl="0"/>
            <a:r>
              <a:rPr sz="1800" dirty="0" err="1"/>
              <a:t>故障探针防护：内核拷贝走</a:t>
            </a:r>
            <a:r>
              <a:rPr sz="1800" dirty="0"/>
              <a:t> </a:t>
            </a:r>
            <a:r>
              <a:rPr sz="1800" dirty="0" err="1"/>
              <a:t>nofault</a:t>
            </a:r>
            <a:r>
              <a:rPr sz="1800" dirty="0"/>
              <a:t> </a:t>
            </a:r>
            <a:r>
              <a:rPr sz="1800" dirty="0" err="1"/>
              <a:t>恢复路径，坏地址返回</a:t>
            </a:r>
            <a:r>
              <a:rPr sz="1800" dirty="0"/>
              <a:t> </a:t>
            </a:r>
            <a:r>
              <a:rPr sz="1800" dirty="0">
                <a:latin typeface="Courier"/>
              </a:rPr>
              <a:t>-</a:t>
            </a:r>
            <a:r>
              <a:rPr sz="1800" dirty="0" err="1">
                <a:latin typeface="Courier"/>
              </a:rPr>
              <a:t>EFAULT</a:t>
            </a:r>
            <a:r>
              <a:rPr sz="1800" dirty="0" err="1"/>
              <a:t>；畸形指令流在加载期以</a:t>
            </a:r>
            <a:r>
              <a:rPr sz="1800" dirty="0"/>
              <a:t> </a:t>
            </a:r>
            <a:r>
              <a:rPr sz="1800" dirty="0">
                <a:latin typeface="Courier"/>
              </a:rPr>
              <a:t>EINVAL</a:t>
            </a:r>
            <a:r>
              <a:rPr sz="1800" dirty="0"/>
              <a:t> </a:t>
            </a:r>
            <a:r>
              <a:rPr sz="1800" dirty="0" err="1"/>
              <a:t>拒绝；挂点注册失败返回错误而非</a:t>
            </a:r>
            <a:r>
              <a:rPr sz="1800" dirty="0"/>
              <a:t> panic。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验证结果与边界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结果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ax-net 单元测试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149 项通过，覆盖事件触发次数、轮询结果不变与背压边界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队列快照 QEMU 测试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四种配置均读到 1 个接口、1 个队列组，字段与归属 CPU 已校验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网络事件 QEMU 测试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四种配置通过；真实流量读到轮询、发送接纳、接收发布与协议让出，关闭后不再产出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eBPF 附着测试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四架构回归分别读回 5/5/7/5 条记录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静态检查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ax-net 9 项、StarryOS 内核 80 项 Clippy 组合通过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lvl="0" indent="-342900">
              <a:buAutoNum type="arabicPeriod"/>
            </a:pPr>
            <a:r>
              <a:rPr sz="1800" b="1" dirty="0" err="1"/>
              <a:t>WiFi</a:t>
            </a:r>
            <a:r>
              <a:rPr sz="1800" b="1" dirty="0"/>
              <a:t>：</a:t>
            </a:r>
            <a:r>
              <a:rPr sz="1800" dirty="0"/>
              <a:t> </a:t>
            </a:r>
            <a:r>
              <a:rPr sz="1800" dirty="0" err="1"/>
              <a:t>先定位等待放大，再适配</a:t>
            </a:r>
            <a:r>
              <a:rPr sz="1800" dirty="0"/>
              <a:t> D80，最后用聚合与额度缓存降低每包固定成本。</a:t>
            </a:r>
          </a:p>
          <a:p>
            <a:pPr marL="342900" lvl="0" indent="-342900">
              <a:buAutoNum type="arabicPeriod"/>
            </a:pPr>
            <a:r>
              <a:rPr sz="1800" b="1" dirty="0" err="1"/>
              <a:t>结果</a:t>
            </a:r>
            <a:r>
              <a:rPr sz="1800" b="1" dirty="0"/>
              <a:t>：</a:t>
            </a:r>
            <a:r>
              <a:rPr sz="1800" dirty="0"/>
              <a:t> </a:t>
            </a:r>
            <a:r>
              <a:rPr sz="1800" dirty="0" err="1"/>
              <a:t>新架构下上行</a:t>
            </a:r>
            <a:r>
              <a:rPr sz="1800" dirty="0"/>
              <a:t> 7.30 → 40.0 </a:t>
            </a:r>
            <a:r>
              <a:rPr sz="1800" dirty="0" err="1"/>
              <a:t>Mbps，下行</a:t>
            </a:r>
            <a:r>
              <a:rPr sz="1800" dirty="0"/>
              <a:t> 20.3 → 35.2 </a:t>
            </a:r>
            <a:r>
              <a:rPr sz="1800" dirty="0" err="1"/>
              <a:t>Mbps；结果需结合会话波动解读，实板验证覆盖</a:t>
            </a:r>
            <a:r>
              <a:rPr sz="1800" dirty="0"/>
              <a:t> D80、未覆盖 DC </a:t>
            </a:r>
            <a:r>
              <a:rPr sz="1800" dirty="0" err="1"/>
              <a:t>型号</a:t>
            </a:r>
            <a:r>
              <a:rPr sz="1800" dirty="0"/>
              <a:t>。</a:t>
            </a:r>
          </a:p>
          <a:p>
            <a:pPr marL="342900" lvl="0" indent="-342900">
              <a:buAutoNum type="arabicPeriod"/>
            </a:pPr>
            <a:r>
              <a:rPr sz="1800" b="1" dirty="0" err="1"/>
              <a:t>观测</a:t>
            </a:r>
            <a:r>
              <a:rPr sz="1800" b="1" dirty="0"/>
              <a:t>：</a:t>
            </a:r>
            <a:r>
              <a:rPr sz="1800" dirty="0"/>
              <a:t> </a:t>
            </a:r>
            <a:r>
              <a:rPr sz="1800" dirty="0" err="1"/>
              <a:t>从接口累计，到队列快照，再到可由</a:t>
            </a:r>
            <a:r>
              <a:rPr sz="1800" dirty="0"/>
              <a:t> </a:t>
            </a:r>
            <a:r>
              <a:rPr sz="1800" dirty="0" err="1"/>
              <a:t>eBPF</a:t>
            </a:r>
            <a:r>
              <a:rPr sz="1800" dirty="0"/>
              <a:t> </a:t>
            </a:r>
            <a:r>
              <a:rPr sz="1800" dirty="0" err="1"/>
              <a:t>消费的状态事件，形成可复用的定位路径</a:t>
            </a:r>
            <a:r>
              <a:rPr sz="1800" dirty="0"/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87F8C"/>
      </a:accent1>
      <a:accent2>
        <a:srgbClr val="E99037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tos"/>
        <a:ea typeface=""/>
        <a:cs typeface=""/>
        <a:font script="Jpan" typeface="ＭＳ Ｐゴシック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538</Words>
  <Application>Microsoft Office PowerPoint</Application>
  <PresentationFormat>全屏显示(16:9)</PresentationFormat>
  <Paragraphs>88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1" baseType="lpstr">
      <vt:lpstr>Courier</vt:lpstr>
      <vt:lpstr>Microsoft YaHei</vt:lpstr>
      <vt:lpstr>Aptos</vt:lpstr>
      <vt:lpstr>Arial</vt:lpstr>
      <vt:lpstr>Times New Roman</vt:lpstr>
      <vt:lpstr>Office Theme</vt:lpstr>
      <vt:lpstr>2026 实习总结 WiFi 优化和 eBPF 网络栈可观测能力</vt:lpstr>
      <vt:lpstr>工作主线</vt:lpstr>
      <vt:lpstr>WiFi：问题从哪里来</vt:lpstr>
      <vt:lpstr>WiFi：修复完成等待</vt:lpstr>
      <vt:lpstr>WiFi：重构后的驱动结构</vt:lpstr>
      <vt:lpstr>D80 适配：三类故障</vt:lpstr>
      <vt:lpstr>WiFi：发送瓶颈在「每包固定成本」</vt:lpstr>
      <vt:lpstr>WiFi：聚合、额度缓存与有界续接</vt:lpstr>
      <vt:lpstr>WiFi：吞吐结果</vt:lpstr>
      <vt:lpstr>WiFi：如何确认收益来自驱动</vt:lpstr>
      <vt:lpstr>ax-net：从总量到具体状态转移</vt:lpstr>
      <vt:lpstr>ax-net：六个可复用的静态事件</vt:lpstr>
      <vt:lpstr>eBPF：消费事件与失败隔离</vt:lpstr>
      <vt:lpstr>验证结果与边界</vt:lpstr>
      <vt:lpstr>总结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OSCamp 实习总结</dc:title>
  <dc:creator>刘柯</dc:creator>
  <cp:keywords/>
  <cp:lastModifiedBy>Asta</cp:lastModifiedBy>
  <cp:revision>6</cp:revision>
  <dcterms:created xsi:type="dcterms:W3CDTF">2026-10-02T11:34:51Z</dcterms:created>
  <dcterms:modified xsi:type="dcterms:W3CDTF">2026-10-02T11:43:36Z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SG2002 WiFi 优化与 ax-net 网络观测</vt:lpwstr>
  </property>
</Properties>
</file>